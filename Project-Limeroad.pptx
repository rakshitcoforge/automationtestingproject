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eo Tech Bold" charset="1" panose="020B0804030504040204"/>
      <p:regular r:id="rId13"/>
    </p:embeddedFont>
    <p:embeddedFont>
      <p:font typeface="Koho Bold" charset="1" panose="00000800000000000000"/>
      <p:regular r:id="rId14"/>
    </p:embeddedFont>
    <p:embeddedFont>
      <p:font typeface="Koho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21704" y="2431568"/>
            <a:ext cx="10169694" cy="4332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00"/>
              </a:lnSpc>
            </a:pPr>
            <a:r>
              <a:rPr lang="en-US" b="true" sz="7280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AUTOMATION TESTING WITH SELENIUM JAVA &amp; TESTNG FOR LIMEROAD.COM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499617" y="-337506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21704" y="6957521"/>
            <a:ext cx="10738439" cy="79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84"/>
              </a:lnSpc>
            </a:pPr>
            <a:r>
              <a:rPr lang="en-US" b="true" sz="5513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Presented by Rakshit Porwal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151067">
            <a:off x="-1812924" y="4400378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0" y="10230242"/>
                </a:moveTo>
                <a:lnTo>
                  <a:pt x="7161170" y="10230242"/>
                </a:lnTo>
                <a:lnTo>
                  <a:pt x="7161170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25238" y="-129416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94558" y="781733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6048" y="3785953"/>
            <a:ext cx="10894849" cy="4698362"/>
            <a:chOff x="0" y="0"/>
            <a:chExt cx="971835" cy="419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1835" cy="419100"/>
            </a:xfrm>
            <a:custGeom>
              <a:avLst/>
              <a:gdLst/>
              <a:ahLst/>
              <a:cxnLst/>
              <a:rect r="r" b="b" t="t" l="l"/>
              <a:pathLst>
                <a:path h="419100" w="971835">
                  <a:moveTo>
                    <a:pt x="0" y="0"/>
                  </a:moveTo>
                  <a:lnTo>
                    <a:pt x="971835" y="0"/>
                  </a:lnTo>
                  <a:lnTo>
                    <a:pt x="971835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005F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1835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-4714869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72344" y="2690387"/>
            <a:ext cx="5246370" cy="5793929"/>
            <a:chOff x="0" y="0"/>
            <a:chExt cx="812800" cy="8976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97631"/>
            </a:xfrm>
            <a:custGeom>
              <a:avLst/>
              <a:gdLst/>
              <a:ahLst/>
              <a:cxnLst/>
              <a:rect r="r" b="b" t="t" l="l"/>
              <a:pathLst>
                <a:path h="897631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863691"/>
                  </a:lnTo>
                  <a:cubicBezTo>
                    <a:pt x="812800" y="882436"/>
                    <a:pt x="797604" y="897631"/>
                    <a:pt x="778860" y="897631"/>
                  </a:cubicBezTo>
                  <a:lnTo>
                    <a:pt x="33940" y="897631"/>
                  </a:lnTo>
                  <a:cubicBezTo>
                    <a:pt x="15196" y="897631"/>
                    <a:pt x="0" y="882436"/>
                    <a:pt x="0" y="863691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4"/>
              <a:stretch>
                <a:fillRect l="-5218" t="0" r="-521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47116" y="5291155"/>
            <a:ext cx="9668540" cy="199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This training project focuses on automating test cases for limeroad.com to improve testing efficiency and accuracy.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• Tools: Selenium WebDriver, Java, TestNG Framework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• Automates key user flows on limeroad.com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• GitHub integration for version control &amp; collaboration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47116" y="2747577"/>
            <a:ext cx="8282278" cy="212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66"/>
              </a:lnSpc>
            </a:pPr>
            <a:r>
              <a:rPr lang="en-US" b="true" sz="4707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AUTOMATION TESTING WITH SELENIUM JAVA &amp; TESTNG FOR LIMEROAD.COM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8596510">
            <a:off x="11034248" y="-1404779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7221231" y="1520888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2384810" y="2397377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05314" y="4479361"/>
            <a:ext cx="837057" cy="837057"/>
          </a:xfrm>
          <a:custGeom>
            <a:avLst/>
            <a:gdLst/>
            <a:ahLst/>
            <a:cxnLst/>
            <a:rect r="r" b="b" t="t" l="l"/>
            <a:pathLst>
              <a:path h="837057" w="837057">
                <a:moveTo>
                  <a:pt x="0" y="0"/>
                </a:moveTo>
                <a:lnTo>
                  <a:pt x="837057" y="0"/>
                </a:lnTo>
                <a:lnTo>
                  <a:pt x="837057" y="837057"/>
                </a:lnTo>
                <a:lnTo>
                  <a:pt x="0" y="837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36389" y="1587629"/>
            <a:ext cx="9615222" cy="23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3"/>
              </a:lnSpc>
            </a:pPr>
            <a:r>
              <a:rPr lang="en-US" b="true" sz="7494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AUTOMATION SETUP AND TOOLS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13846" y="4306197"/>
            <a:ext cx="10580784" cy="111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2"/>
              </a:lnSpc>
            </a:pPr>
            <a:r>
              <a:rPr lang="en-US" sz="2607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Selenium WebDriver: A powerful browser automation tool that enables interaction with web elements on limeroad.com, simulating real user actions across Chrome, Firefox, and other browsers.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13846" y="5846825"/>
            <a:ext cx="10580784" cy="111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2"/>
              </a:lnSpc>
            </a:pPr>
            <a:r>
              <a:rPr lang="en-US" sz="2607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Java &amp; TestNG: Java serves as the programming language for writing robust test scripts. TestNG framework provides annotations (@Test, @BeforeMethod), grouping, parallel execution, and detailed HTML reports.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13846" y="7392160"/>
            <a:ext cx="10580784" cy="1115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2"/>
              </a:lnSpc>
            </a:pPr>
            <a:r>
              <a:rPr lang="en-US" sz="2607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Environment Setup: ChromeDriver configured for browser-test integration. IDE support via Eclipse or IntelliJ IDEA. Maven for dependency management, with Selenium and TestNG libraries in pom.xml.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605314" y="6019989"/>
            <a:ext cx="837057" cy="837057"/>
          </a:xfrm>
          <a:custGeom>
            <a:avLst/>
            <a:gdLst/>
            <a:ahLst/>
            <a:cxnLst/>
            <a:rect r="r" b="b" t="t" l="l"/>
            <a:pathLst>
              <a:path h="837057" w="837057">
                <a:moveTo>
                  <a:pt x="0" y="0"/>
                </a:moveTo>
                <a:lnTo>
                  <a:pt x="837057" y="0"/>
                </a:lnTo>
                <a:lnTo>
                  <a:pt x="837057" y="837057"/>
                </a:lnTo>
                <a:lnTo>
                  <a:pt x="0" y="837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89881" y="7657146"/>
            <a:ext cx="837057" cy="837057"/>
          </a:xfrm>
          <a:custGeom>
            <a:avLst/>
            <a:gdLst/>
            <a:ahLst/>
            <a:cxnLst/>
            <a:rect r="r" b="b" t="t" l="l"/>
            <a:pathLst>
              <a:path h="837057" w="837057">
                <a:moveTo>
                  <a:pt x="0" y="0"/>
                </a:moveTo>
                <a:lnTo>
                  <a:pt x="837057" y="0"/>
                </a:lnTo>
                <a:lnTo>
                  <a:pt x="837057" y="837057"/>
                </a:lnTo>
                <a:lnTo>
                  <a:pt x="0" y="8370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5FC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6918183" y="5888904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54424" y="1459858"/>
            <a:ext cx="3804876" cy="3547520"/>
            <a:chOff x="0" y="0"/>
            <a:chExt cx="812800" cy="7578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757823"/>
            </a:xfrm>
            <a:custGeom>
              <a:avLst/>
              <a:gdLst/>
              <a:ahLst/>
              <a:cxnLst/>
              <a:rect r="r" b="b" t="t" l="l"/>
              <a:pathLst>
                <a:path h="757823" w="812800">
                  <a:moveTo>
                    <a:pt x="46799" y="0"/>
                  </a:moveTo>
                  <a:lnTo>
                    <a:pt x="766001" y="0"/>
                  </a:lnTo>
                  <a:cubicBezTo>
                    <a:pt x="791847" y="0"/>
                    <a:pt x="812800" y="20953"/>
                    <a:pt x="812800" y="46799"/>
                  </a:cubicBezTo>
                  <a:lnTo>
                    <a:pt x="812800" y="711024"/>
                  </a:lnTo>
                  <a:cubicBezTo>
                    <a:pt x="812800" y="736871"/>
                    <a:pt x="791847" y="757823"/>
                    <a:pt x="766001" y="757823"/>
                  </a:cubicBezTo>
                  <a:lnTo>
                    <a:pt x="46799" y="757823"/>
                  </a:lnTo>
                  <a:cubicBezTo>
                    <a:pt x="20953" y="757823"/>
                    <a:pt x="0" y="736871"/>
                    <a:pt x="0" y="711024"/>
                  </a:cubicBezTo>
                  <a:lnTo>
                    <a:pt x="0" y="46799"/>
                  </a:lnTo>
                  <a:cubicBezTo>
                    <a:pt x="0" y="20953"/>
                    <a:pt x="20953" y="0"/>
                    <a:pt x="4679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627" r="0" b="-362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454424" y="5279623"/>
            <a:ext cx="3804876" cy="3547520"/>
            <a:chOff x="0" y="0"/>
            <a:chExt cx="812800" cy="757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57823"/>
            </a:xfrm>
            <a:custGeom>
              <a:avLst/>
              <a:gdLst/>
              <a:ahLst/>
              <a:cxnLst/>
              <a:rect r="r" b="b" t="t" l="l"/>
              <a:pathLst>
                <a:path h="757823" w="812800">
                  <a:moveTo>
                    <a:pt x="46799" y="0"/>
                  </a:moveTo>
                  <a:lnTo>
                    <a:pt x="766001" y="0"/>
                  </a:lnTo>
                  <a:cubicBezTo>
                    <a:pt x="791847" y="0"/>
                    <a:pt x="812800" y="20953"/>
                    <a:pt x="812800" y="46799"/>
                  </a:cubicBezTo>
                  <a:lnTo>
                    <a:pt x="812800" y="711024"/>
                  </a:lnTo>
                  <a:cubicBezTo>
                    <a:pt x="812800" y="736871"/>
                    <a:pt x="791847" y="757823"/>
                    <a:pt x="766001" y="757823"/>
                  </a:cubicBezTo>
                  <a:lnTo>
                    <a:pt x="46799" y="757823"/>
                  </a:lnTo>
                  <a:cubicBezTo>
                    <a:pt x="20953" y="757823"/>
                    <a:pt x="0" y="736871"/>
                    <a:pt x="0" y="711024"/>
                  </a:cubicBezTo>
                  <a:lnTo>
                    <a:pt x="0" y="46799"/>
                  </a:lnTo>
                  <a:cubicBezTo>
                    <a:pt x="0" y="20953"/>
                    <a:pt x="20953" y="0"/>
                    <a:pt x="4679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3627" r="0" b="-3627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829272" y="3519317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70"/>
                </a:lnTo>
                <a:lnTo>
                  <a:pt x="0" y="679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29272" y="5478561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69"/>
                </a:lnTo>
                <a:lnTo>
                  <a:pt x="0" y="679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29272" y="7433472"/>
            <a:ext cx="679170" cy="679170"/>
          </a:xfrm>
          <a:custGeom>
            <a:avLst/>
            <a:gdLst/>
            <a:ahLst/>
            <a:cxnLst/>
            <a:rect r="r" b="b" t="t" l="l"/>
            <a:pathLst>
              <a:path h="679170" w="679170">
                <a:moveTo>
                  <a:pt x="0" y="0"/>
                </a:moveTo>
                <a:lnTo>
                  <a:pt x="679170" y="0"/>
                </a:lnTo>
                <a:lnTo>
                  <a:pt x="679170" y="679169"/>
                </a:lnTo>
                <a:lnTo>
                  <a:pt x="0" y="679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29272" y="1383658"/>
            <a:ext cx="10894849" cy="9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40"/>
              </a:lnSpc>
            </a:pPr>
            <a:r>
              <a:rPr lang="en-US" b="true" sz="5649">
                <a:solidFill>
                  <a:srgbClr val="FFFFFF"/>
                </a:solidFill>
                <a:latin typeface="Neo Tech Bold"/>
                <a:ea typeface="Neo Tech Bold"/>
                <a:cs typeface="Neo Tech Bold"/>
                <a:sym typeface="Neo Tech Bold"/>
              </a:rPr>
              <a:t>KEY TEST CASES IMPLEMENTED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95628" y="3076709"/>
            <a:ext cx="10148400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Login Functionality Tests: Automated valid/invalid login scenarios on limeroad.com, verifying successful authentication, error messages, and session handling using TestNG assertions.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95628" y="5035952"/>
            <a:ext cx="10148400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Product Search &amp; Filter Validation: Automated search queries and filter selections (category, price, brand) to validate correct results, URL parameters, and page title accuracy.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95628" y="6990863"/>
            <a:ext cx="10148400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FFFFFF"/>
                </a:solidFill>
                <a:latin typeface="Koho"/>
                <a:ea typeface="Koho"/>
                <a:cs typeface="Koho"/>
                <a:sym typeface="Koho"/>
              </a:rPr>
              <a:t>Add to Cart &amp; Checkout Automation: End-to-end test scripts covering add-to-cart, quantity updates, and checkout flow. TestNG grouping used to organize smoke and regression test suites.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125845" y="-4806690"/>
            <a:ext cx="13836366" cy="7245224"/>
          </a:xfrm>
          <a:custGeom>
            <a:avLst/>
            <a:gdLst/>
            <a:ahLst/>
            <a:cxnLst/>
            <a:rect r="r" b="b" t="t" l="l"/>
            <a:pathLst>
              <a:path h="7245224" w="13836366">
                <a:moveTo>
                  <a:pt x="0" y="0"/>
                </a:moveTo>
                <a:lnTo>
                  <a:pt x="13836366" y="0"/>
                </a:lnTo>
                <a:lnTo>
                  <a:pt x="13836366" y="7245224"/>
                </a:lnTo>
                <a:lnTo>
                  <a:pt x="0" y="7245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3809" y="1713694"/>
            <a:ext cx="10894849" cy="160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03"/>
              </a:lnSpc>
            </a:pPr>
            <a:r>
              <a:rPr lang="en-US" b="true" sz="5178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GITHUB INTEGRATION FOR PROJECT MANAGEMENT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42726" y="5265039"/>
            <a:ext cx="4230126" cy="3193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Branch Management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Code pushed to remote repo using Git commands. Feature branches created for each test module. Merging managed via pull requests to maintain code integrity and history.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-3207360" y="-508674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69" y="0"/>
                </a:moveTo>
                <a:lnTo>
                  <a:pt x="0" y="0"/>
                </a:lnTo>
                <a:lnTo>
                  <a:pt x="0" y="10230243"/>
                </a:lnTo>
                <a:lnTo>
                  <a:pt x="7161169" y="10230243"/>
                </a:lnTo>
                <a:lnTo>
                  <a:pt x="71611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3885569">
            <a:off x="15560500" y="4143179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69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69" y="10230242"/>
                </a:lnTo>
                <a:lnTo>
                  <a:pt x="716116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229407" y="3866959"/>
            <a:ext cx="4656668" cy="279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Collaborative Workflow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Pull requests reviewed by team members before merging. Code reviews ensure quality and consistency. Commit history tracks all changes for full traceability.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9502" y="3866959"/>
            <a:ext cx="4656668" cy="2793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Repository Setup</a:t>
            </a:r>
          </a:p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Created a structured GitHub repo with organized folders for test scripts, config files, and reports. Clear README with setup instructions and project overview for easy onboarding.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730472" y="7505454"/>
            <a:ext cx="1134508" cy="929282"/>
          </a:xfrm>
          <a:custGeom>
            <a:avLst/>
            <a:gdLst/>
            <a:ahLst/>
            <a:cxnLst/>
            <a:rect r="r" b="b" t="t" l="l"/>
            <a:pathLst>
              <a:path h="929282" w="1134508">
                <a:moveTo>
                  <a:pt x="0" y="0"/>
                </a:moveTo>
                <a:lnTo>
                  <a:pt x="1134508" y="0"/>
                </a:lnTo>
                <a:lnTo>
                  <a:pt x="1134508" y="929282"/>
                </a:lnTo>
                <a:lnTo>
                  <a:pt x="0" y="929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37839" y="7565160"/>
            <a:ext cx="1036415" cy="849285"/>
          </a:xfrm>
          <a:custGeom>
            <a:avLst/>
            <a:gdLst/>
            <a:ahLst/>
            <a:cxnLst/>
            <a:rect r="r" b="b" t="t" l="l"/>
            <a:pathLst>
              <a:path h="849285" w="1036415">
                <a:moveTo>
                  <a:pt x="0" y="0"/>
                </a:moveTo>
                <a:lnTo>
                  <a:pt x="1036415" y="0"/>
                </a:lnTo>
                <a:lnTo>
                  <a:pt x="1036415" y="849285"/>
                </a:lnTo>
                <a:lnTo>
                  <a:pt x="0" y="8492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70005" y="4298229"/>
            <a:ext cx="1059820" cy="831461"/>
          </a:xfrm>
          <a:custGeom>
            <a:avLst/>
            <a:gdLst/>
            <a:ahLst/>
            <a:cxnLst/>
            <a:rect r="r" b="b" t="t" l="l"/>
            <a:pathLst>
              <a:path h="831461" w="1059820">
                <a:moveTo>
                  <a:pt x="0" y="0"/>
                </a:moveTo>
                <a:lnTo>
                  <a:pt x="1059821" y="0"/>
                </a:lnTo>
                <a:lnTo>
                  <a:pt x="1059821" y="831461"/>
                </a:lnTo>
                <a:lnTo>
                  <a:pt x="0" y="8314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41974" y="4178708"/>
            <a:ext cx="8975409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Benefits of automation: faster regression testing, improved accuracy across test runs, and reusable scripts that reduce manual effort over time.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-10149532">
            <a:off x="-3580585" y="4143179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29211">
            <a:off x="14707415" y="-4280324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70617" y="3826707"/>
            <a:ext cx="4982576" cy="5068483"/>
          </a:xfrm>
          <a:custGeom>
            <a:avLst/>
            <a:gdLst/>
            <a:ahLst/>
            <a:cxnLst/>
            <a:rect r="r" b="b" t="t" l="l"/>
            <a:pathLst>
              <a:path h="5068483" w="4982576">
                <a:moveTo>
                  <a:pt x="0" y="0"/>
                </a:moveTo>
                <a:lnTo>
                  <a:pt x="4982576" y="0"/>
                </a:lnTo>
                <a:lnTo>
                  <a:pt x="4982576" y="5068483"/>
                </a:lnTo>
                <a:lnTo>
                  <a:pt x="0" y="5068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22883" y="1246437"/>
            <a:ext cx="10894849" cy="231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43"/>
              </a:lnSpc>
            </a:pPr>
            <a:r>
              <a:rPr lang="en-US" b="true" sz="7494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SUMMARY AND NEXT STEPS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41974" y="6578754"/>
            <a:ext cx="8975409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799">
                <a:solidFill>
                  <a:srgbClr val="005FC2"/>
                </a:solidFill>
                <a:latin typeface="Koho"/>
                <a:ea typeface="Koho"/>
                <a:cs typeface="Koho"/>
                <a:sym typeface="Koho"/>
              </a:rPr>
              <a:t>Challenges and lessons learned: managing dynamic web elements, handling synchronization issues, and structuring maintainable test code for limeroad.com.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22833" y="3629195"/>
            <a:ext cx="9842334" cy="208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361"/>
              </a:lnSpc>
            </a:pPr>
            <a:r>
              <a:rPr lang="en-US" b="true" sz="12597">
                <a:solidFill>
                  <a:srgbClr val="005FC2"/>
                </a:solidFill>
                <a:latin typeface="Neo Tech Bold"/>
                <a:ea typeface="Neo Tech Bold"/>
                <a:cs typeface="Neo Tech Bold"/>
                <a:sym typeface="Neo Tech Bold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499617" y="-3375063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7161170" y="0"/>
                </a:moveTo>
                <a:lnTo>
                  <a:pt x="0" y="0"/>
                </a:lnTo>
                <a:lnTo>
                  <a:pt x="0" y="10230242"/>
                </a:lnTo>
                <a:lnTo>
                  <a:pt x="7161170" y="10230242"/>
                </a:lnTo>
                <a:lnTo>
                  <a:pt x="716117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61309" y="5401099"/>
            <a:ext cx="8365383" cy="318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0"/>
              </a:lnSpc>
            </a:pPr>
            <a:r>
              <a:rPr lang="en-US" b="true" sz="2202">
                <a:solidFill>
                  <a:srgbClr val="005FC2"/>
                </a:solidFill>
                <a:latin typeface="Koho Bold"/>
                <a:ea typeface="Koho Bold"/>
                <a:cs typeface="Koho Bold"/>
                <a:sym typeface="Koho Bold"/>
              </a:rPr>
              <a:t>Questions &amp; Collaboration Welcome 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151067">
            <a:off x="-1812924" y="4400378"/>
            <a:ext cx="7161170" cy="10230243"/>
          </a:xfrm>
          <a:custGeom>
            <a:avLst/>
            <a:gdLst/>
            <a:ahLst/>
            <a:cxnLst/>
            <a:rect r="r" b="b" t="t" l="l"/>
            <a:pathLst>
              <a:path h="10230243" w="7161170">
                <a:moveTo>
                  <a:pt x="0" y="10230242"/>
                </a:moveTo>
                <a:lnTo>
                  <a:pt x="7161170" y="10230242"/>
                </a:lnTo>
                <a:lnTo>
                  <a:pt x="7161170" y="0"/>
                </a:lnTo>
                <a:lnTo>
                  <a:pt x="0" y="0"/>
                </a:lnTo>
                <a:lnTo>
                  <a:pt x="0" y="102302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25238" y="-129416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94558" y="7817332"/>
            <a:ext cx="7793442" cy="4080930"/>
          </a:xfrm>
          <a:custGeom>
            <a:avLst/>
            <a:gdLst/>
            <a:ahLst/>
            <a:cxnLst/>
            <a:rect r="r" b="b" t="t" l="l"/>
            <a:pathLst>
              <a:path h="4080930" w="7793442">
                <a:moveTo>
                  <a:pt x="0" y="0"/>
                </a:moveTo>
                <a:lnTo>
                  <a:pt x="7793442" y="0"/>
                </a:lnTo>
                <a:lnTo>
                  <a:pt x="7793442" y="4080930"/>
                </a:lnTo>
                <a:lnTo>
                  <a:pt x="0" y="4080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DAHNW4jA0Ho</dc:identifier>
  <dcterms:modified xsi:type="dcterms:W3CDTF">2011-08-01T06:04:30Z</dcterms:modified>
  <cp:revision>1</cp:revision>
  <dc:title>Automation Testing with Selenium and TestNG for Limeroad.com</dc:title>
</cp:coreProperties>
</file>